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6" r:id="rId17"/>
    <p:sldId id="274" r:id="rId18"/>
    <p:sldId id="275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0689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1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22.png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71020"/>
          </a:solidFill>
          <a:ln/>
        </p:spPr>
      </p:sp>
      <p:sp>
        <p:nvSpPr>
          <p:cNvPr id="3" name="Shape 1"/>
          <p:cNvSpPr/>
          <p:nvPr/>
        </p:nvSpPr>
        <p:spPr>
          <a:xfrm>
            <a:off x="3840480" y="0"/>
            <a:ext cx="54864" cy="51435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548640"/>
            <a:ext cx="2834640" cy="2834640"/>
          </a:xfrm>
          <a:prstGeom prst="ellipse">
            <a:avLst/>
          </a:prstGeom>
          <a:solidFill>
            <a:srgbClr val="00897B">
              <a:alpha val="15000"/>
            </a:srgbClr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914400"/>
            <a:ext cx="1828800" cy="1828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0" y="64008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Knowledge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4114800" y="128016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Sharing Vault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4114800" y="2029968"/>
            <a:ext cx="4114800" cy="4572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9" name="Text 6"/>
          <p:cNvSpPr/>
          <p:nvPr/>
        </p:nvSpPr>
        <p:spPr>
          <a:xfrm>
            <a:off x="4114800" y="2176272"/>
            <a:ext cx="4754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Secure, Privacy-Focused File Storage &amp; Sharing Platform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Python · Django · AES-256 Encryption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0" y="3017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577840" y="3017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Prajjwal Dixit  &amp;  Uday Raj Rastogi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114800" y="33192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577840" y="33192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 Final Year  —  2025–26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114800" y="36210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Guide: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577840" y="36210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Devika Singh  &amp;  Mr. Nilesh Khare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114800" y="39227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Institute: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577840" y="39227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BBD University, Lucknow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114800" y="42245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577840" y="42245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4864608"/>
            <a:ext cx="91440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ZKVault · MCA Final Year · BBD University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877824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A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877824"/>
            <a:ext cx="2743200" cy="566928"/>
          </a:xfrm>
          <a:prstGeom prst="rect">
            <a:avLst/>
          </a:prstGeom>
          <a:solidFill>
            <a:srgbClr val="1565C0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914400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9184" y="1508760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of Problem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9184" y="1993392"/>
            <a:ext cx="2377440" cy="3657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1" name="Text 8"/>
          <p:cNvSpPr/>
          <p:nvPr/>
        </p:nvSpPr>
        <p:spPr>
          <a:xfrm>
            <a:off x="329184" y="2084832"/>
            <a:ext cx="25968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rapid growth of cloud computing has exposed users to severe security risks. Data privacy has become a primary global concern as centralized platforms hold user data in vulnerable formats.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136392" y="877824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A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36392" y="877824"/>
            <a:ext cx="2743200" cy="566928"/>
          </a:xfrm>
          <a:prstGeom prst="rect">
            <a:avLst/>
          </a:prstGeom>
          <a:solidFill>
            <a:srgbClr val="E65100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7832" y="914400"/>
            <a:ext cx="402336" cy="40233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209544" y="1508760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 Is Needed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3209544" y="1993392"/>
            <a:ext cx="2377440" cy="36576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7" name="Text 13"/>
          <p:cNvSpPr/>
          <p:nvPr/>
        </p:nvSpPr>
        <p:spPr>
          <a:xfrm>
            <a:off x="3209544" y="2084832"/>
            <a:ext cx="25968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systems store files in decrypted or weakly encrypted formats, making them highly vulnerable to data breaches, unauthorized access, and insider threats by service administrators.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016752" y="877824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A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016752" y="877824"/>
            <a:ext cx="2743200" cy="566928"/>
          </a:xfrm>
          <a:prstGeom prst="rect">
            <a:avLst/>
          </a:prstGeom>
          <a:solidFill>
            <a:srgbClr val="00897B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8192" y="914400"/>
            <a:ext cx="402336" cy="40233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089904" y="1508760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System Overview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089904" y="1993392"/>
            <a:ext cx="2377440" cy="36576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3" name="Text 18"/>
          <p:cNvSpPr/>
          <p:nvPr/>
        </p:nvSpPr>
        <p:spPr>
          <a:xfrm>
            <a:off x="6089904" y="2084832"/>
            <a:ext cx="25968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ZKVault is a web-based platform using Python + Django and the Zero Knowledge Security Model. Files are encrypted client-side with AES-256 before upload — the server never sees plaintext.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4864608"/>
            <a:ext cx="91440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ZKVault · MCA Final Year · BBD University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877824"/>
            <a:ext cx="5120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A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02336" y="9875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 Exists?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02336" y="1371600"/>
            <a:ext cx="4572000" cy="36576"/>
          </a:xfrm>
          <a:prstGeom prst="rect">
            <a:avLst/>
          </a:prstGeom>
          <a:solidFill>
            <a:srgbClr val="1565C0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536192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94944" y="149961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Access: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94944" y="175564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file storage platforms expose user data to unauthorized personnel including server admins.</a:t>
            </a:r>
            <a:endParaRPr lang="en-US" sz="9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157984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" y="212140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Authentication: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94944" y="237744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Single-factor login mechanisms allow account compromise through credential theft.</a:t>
            </a:r>
            <a:endParaRPr lang="en-US" sz="9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779776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" y="274320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End-to-End Encryption: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694944" y="2999232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stored in plaintext/partial encryption allow service providers to scan or access private content.</a:t>
            </a:r>
            <a:endParaRPr lang="en-US" sz="95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3401568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" y="33649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 Sharing Links: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694944" y="362102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share links lack expiry, password protection, and download limits — enabling misuse.</a:t>
            </a:r>
            <a:endParaRPr lang="en-US" sz="95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4023360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94944" y="39867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Trail: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694944" y="424281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activity logging makes it impossible to detect unauthorized access attempts.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5559552" y="877824"/>
            <a:ext cx="3291840" cy="3931920"/>
          </a:xfrm>
          <a:prstGeom prst="rect">
            <a:avLst/>
          </a:prstGeom>
          <a:solidFill>
            <a:srgbClr val="0A1628"/>
          </a:solidFill>
          <a:ln w="12700">
            <a:solidFill>
              <a:srgbClr val="D0E8FA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18"/>
          <p:cNvSpPr/>
          <p:nvPr/>
        </p:nvSpPr>
        <p:spPr>
          <a:xfrm>
            <a:off x="5669280" y="9875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Faces This?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5669280" y="1371600"/>
            <a:ext cx="2743200" cy="36576"/>
          </a:xfrm>
          <a:prstGeom prst="rect">
            <a:avLst/>
          </a:prstGeom>
          <a:solidFill>
            <a:srgbClr val="00897B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4416" y="1517904"/>
            <a:ext cx="347472" cy="34747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035040" y="151790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Users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6035040" y="177393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Needing private secure cloud storage</a:t>
            </a:r>
            <a:endParaRPr lang="en-US" sz="90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4416" y="2340864"/>
            <a:ext cx="347472" cy="34747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035040" y="234086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Institutions</a:t>
            </a:r>
            <a:endParaRPr lang="en-US" sz="1100" dirty="0"/>
          </a:p>
        </p:txBody>
      </p:sp>
      <p:sp>
        <p:nvSpPr>
          <p:cNvPr id="32" name="Text 23"/>
          <p:cNvSpPr/>
          <p:nvPr/>
        </p:nvSpPr>
        <p:spPr>
          <a:xfrm>
            <a:off x="6035040" y="25968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sensitive research &amp; student data</a:t>
            </a:r>
            <a:endParaRPr lang="en-US" sz="900" dirty="0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4416" y="3163824"/>
            <a:ext cx="347472" cy="347472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035040" y="316382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</a:t>
            </a:r>
            <a:endParaRPr lang="en-US" sz="1100" dirty="0"/>
          </a:p>
        </p:txBody>
      </p:sp>
      <p:sp>
        <p:nvSpPr>
          <p:cNvPr id="35" name="Text 25"/>
          <p:cNvSpPr/>
          <p:nvPr/>
        </p:nvSpPr>
        <p:spPr>
          <a:xfrm>
            <a:off x="6035040" y="341985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confidential business documents</a:t>
            </a:r>
            <a:endParaRPr lang="en-US" sz="900" dirty="0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14416" y="3986784"/>
            <a:ext cx="347472" cy="347472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6035040" y="398678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Providers</a:t>
            </a:r>
            <a:endParaRPr lang="en-US" sz="1100" dirty="0"/>
          </a:p>
        </p:txBody>
      </p:sp>
      <p:sp>
        <p:nvSpPr>
          <p:cNvPr id="38" name="Text 27"/>
          <p:cNvSpPr/>
          <p:nvPr/>
        </p:nvSpPr>
        <p:spPr>
          <a:xfrm>
            <a:off x="6035040" y="424281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 sensitive medical records online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of the Project &amp; Scope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4864608"/>
            <a:ext cx="91440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ZKVault · MCA Final Year · BBD University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877824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A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02336" y="969264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02336" y="1335024"/>
            <a:ext cx="4389120" cy="36576"/>
          </a:xfrm>
          <a:prstGeom prst="rect">
            <a:avLst/>
          </a:prstGeom>
          <a:solidFill>
            <a:srgbClr val="1565C0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" y="1517904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76656" y="1481328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develop a secure file sharing system based on Zero Knowledge Security Model.</a:t>
            </a:r>
            <a:endParaRPr lang="en-US" sz="10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" y="2029968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76656" y="1993392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every file is encrypted client-side (AES-256) before transmission to the server.</a:t>
            </a:r>
            <a:endParaRPr lang="en-US" sz="10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" y="2542032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76656" y="2505456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 the server and administrators have NO access to plaintext file contents or keys.</a:t>
            </a:r>
            <a:endParaRPr lang="en-US" sz="10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" y="3054096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76656" y="3017520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dynamic, secure file sharing with protected links and strict access control.</a:t>
            </a:r>
            <a:endParaRPr lang="en-US" sz="10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" y="3566160"/>
            <a:ext cx="256032" cy="25603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76656" y="3529584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comprehensive admin dashboard for user and activity management.</a:t>
            </a:r>
            <a:endParaRPr lang="en-US" sz="10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" y="4078224"/>
            <a:ext cx="256032" cy="25603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76656" y="4041648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full activity audit logging for monitoring and accountability.</a:t>
            </a:r>
            <a:endParaRPr lang="en-US" sz="1000" dirty="0"/>
          </a:p>
        </p:txBody>
      </p:sp>
      <p:sp>
        <p:nvSpPr>
          <p:cNvPr id="21" name="Shape 13"/>
          <p:cNvSpPr/>
          <p:nvPr/>
        </p:nvSpPr>
        <p:spPr>
          <a:xfrm>
            <a:off x="5468112" y="877824"/>
            <a:ext cx="33832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A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14"/>
          <p:cNvSpPr/>
          <p:nvPr/>
        </p:nvSpPr>
        <p:spPr>
          <a:xfrm>
            <a:off x="5577840" y="96926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Included in Scope</a:t>
            </a:r>
            <a:endParaRPr lang="en-US" sz="1200" dirty="0"/>
          </a:p>
        </p:txBody>
      </p:sp>
      <p:sp>
        <p:nvSpPr>
          <p:cNvPr id="23" name="Text 15"/>
          <p:cNvSpPr/>
          <p:nvPr/>
        </p:nvSpPr>
        <p:spPr>
          <a:xfrm>
            <a:off x="5596128" y="1371600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Secure User Registration &amp; Django Auth</a:t>
            </a:r>
            <a:endParaRPr lang="en-US" sz="900" dirty="0"/>
          </a:p>
        </p:txBody>
      </p:sp>
      <p:sp>
        <p:nvSpPr>
          <p:cNvPr id="24" name="Text 16"/>
          <p:cNvSpPr/>
          <p:nvPr/>
        </p:nvSpPr>
        <p:spPr>
          <a:xfrm>
            <a:off x="5596128" y="1618488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AES-256 Client-side File Encryption</a:t>
            </a:r>
            <a:endParaRPr lang="en-US" sz="900" dirty="0"/>
          </a:p>
        </p:txBody>
      </p:sp>
      <p:sp>
        <p:nvSpPr>
          <p:cNvPr id="25" name="Text 17"/>
          <p:cNvSpPr/>
          <p:nvPr/>
        </p:nvSpPr>
        <p:spPr>
          <a:xfrm>
            <a:off x="5596128" y="1865376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Protected Share Links (expiry, password, limits)</a:t>
            </a:r>
            <a:endParaRPr lang="en-US" sz="900" dirty="0"/>
          </a:p>
        </p:txBody>
      </p:sp>
      <p:sp>
        <p:nvSpPr>
          <p:cNvPr id="26" name="Text 18"/>
          <p:cNvSpPr/>
          <p:nvPr/>
        </p:nvSpPr>
        <p:spPr>
          <a:xfrm>
            <a:off x="5596128" y="2112264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File Management (rename, delete, access control)</a:t>
            </a:r>
            <a:endParaRPr lang="en-US" sz="900" dirty="0"/>
          </a:p>
        </p:txBody>
      </p:sp>
      <p:sp>
        <p:nvSpPr>
          <p:cNvPr id="27" name="Text 19"/>
          <p:cNvSpPr/>
          <p:nvPr/>
        </p:nvSpPr>
        <p:spPr>
          <a:xfrm>
            <a:off x="5596128" y="2359152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Admin Panel: User/Activity Monitoring</a:t>
            </a:r>
            <a:endParaRPr lang="en-US" sz="900" dirty="0"/>
          </a:p>
        </p:txBody>
      </p:sp>
      <p:sp>
        <p:nvSpPr>
          <p:cNvPr id="28" name="Shape 20"/>
          <p:cNvSpPr/>
          <p:nvPr/>
        </p:nvSpPr>
        <p:spPr>
          <a:xfrm>
            <a:off x="5468112" y="2852928"/>
            <a:ext cx="3383280" cy="1956816"/>
          </a:xfrm>
          <a:prstGeom prst="rect">
            <a:avLst/>
          </a:prstGeom>
          <a:solidFill>
            <a:srgbClr val="0A1628"/>
          </a:solidFill>
          <a:ln w="12700">
            <a:solidFill>
              <a:srgbClr val="D0E8FA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1"/>
          <p:cNvSpPr/>
          <p:nvPr/>
        </p:nvSpPr>
        <p:spPr>
          <a:xfrm>
            <a:off x="5577840" y="294436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Future Scope</a:t>
            </a:r>
            <a:endParaRPr lang="en-US" sz="1200" dirty="0"/>
          </a:p>
        </p:txBody>
      </p:sp>
      <p:sp>
        <p:nvSpPr>
          <p:cNvPr id="30" name="Text 22"/>
          <p:cNvSpPr/>
          <p:nvPr/>
        </p:nvSpPr>
        <p:spPr>
          <a:xfrm>
            <a:off x="5596128" y="3346704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Native Mobile App (Android/iOS)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5596128" y="3593592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Elliptic Curve Cryptography (ECC)</a:t>
            </a:r>
            <a:endParaRPr lang="en-US" sz="900" dirty="0"/>
          </a:p>
        </p:txBody>
      </p:sp>
      <p:sp>
        <p:nvSpPr>
          <p:cNvPr id="32" name="Text 24"/>
          <p:cNvSpPr/>
          <p:nvPr/>
        </p:nvSpPr>
        <p:spPr>
          <a:xfrm>
            <a:off x="5596128" y="3840480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Blockchain-Based Audit Logging</a:t>
            </a:r>
            <a:endParaRPr lang="en-US" sz="900" dirty="0"/>
          </a:p>
        </p:txBody>
      </p:sp>
      <p:sp>
        <p:nvSpPr>
          <p:cNvPr id="33" name="Text 25"/>
          <p:cNvSpPr/>
          <p:nvPr/>
        </p:nvSpPr>
        <p:spPr>
          <a:xfrm>
            <a:off x="5596128" y="4087368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Two-Factor Authentication (OTP)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5596128" y="4334256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WebDAV / S3 Storage Backend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 vs. Proposed System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4864608"/>
            <a:ext cx="91440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ZKVault · MCA Final Year · BBD University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877824"/>
            <a:ext cx="4114800" cy="3931920"/>
          </a:xfrm>
          <a:prstGeom prst="rect">
            <a:avLst/>
          </a:prstGeom>
          <a:solidFill>
            <a:srgbClr val="FFF3F3"/>
          </a:solidFill>
          <a:ln w="12700">
            <a:solidFill>
              <a:srgbClr val="D0E8FA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877824"/>
            <a:ext cx="4114800" cy="475488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877824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Existing System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02336" y="14813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Plaintext Storage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2336" y="175564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stored unencrypted or with server-side encryption; admin can access it.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02336" y="21214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Zero Knowledge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02336" y="239572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provider holds encryption keys — full visibility into user data.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02336" y="27614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Weak Sharing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02336" y="303580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URLs with no password, expiry, or download restrictions.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02336" y="34015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Audit Logs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02336" y="367588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accountability for who accessed what and when.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02336" y="40416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Single Factor Auth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02336" y="431596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+ password only; highly vulnerable to phishing &amp; credential theft.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462272" y="2468880"/>
            <a:ext cx="182880" cy="36576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0" name="Shape 18"/>
          <p:cNvSpPr/>
          <p:nvPr/>
        </p:nvSpPr>
        <p:spPr>
          <a:xfrm rot="5400000">
            <a:off x="4407408" y="2834640"/>
            <a:ext cx="292608" cy="201168"/>
          </a:xfrm>
          <a:prstGeom prst="triangle">
            <a:avLst/>
          </a:prstGeom>
          <a:solidFill>
            <a:srgbClr val="00897B"/>
          </a:solidFill>
          <a:ln/>
        </p:spPr>
      </p:sp>
      <p:sp>
        <p:nvSpPr>
          <p:cNvPr id="21" name="Shape 19"/>
          <p:cNvSpPr/>
          <p:nvPr/>
        </p:nvSpPr>
        <p:spPr>
          <a:xfrm>
            <a:off x="4773168" y="877824"/>
            <a:ext cx="4114800" cy="3931920"/>
          </a:xfrm>
          <a:prstGeom prst="rect">
            <a:avLst/>
          </a:prstGeom>
          <a:solidFill>
            <a:srgbClr val="F0FFF4"/>
          </a:solidFill>
          <a:ln w="12700">
            <a:solidFill>
              <a:srgbClr val="D0E8FA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73168" y="877824"/>
            <a:ext cx="4114800" cy="47548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3" name="Text 21"/>
          <p:cNvSpPr/>
          <p:nvPr/>
        </p:nvSpPr>
        <p:spPr>
          <a:xfrm>
            <a:off x="4901184" y="877824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Proposed System (ZKVault)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19472" y="14813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AES-256 Client-Side Encryption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19472" y="175564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encrypted in browser before upload; server stores only ciphertext.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919472" y="21214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True Zero Knowledge Architecture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19472" y="239572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and admins mathematically cannot access plaintext data.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919472" y="27614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Advanced Secure Links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19472" y="303580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links support expiry time, password lock, and max download count.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919472" y="34015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Full Activity Audit Trail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19472" y="367588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logged with timestamp, IP, and user agent for accountability.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919472" y="40416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Django Secure Authentication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19472" y="431596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protection, session management, and account lockout policies.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 &amp; Planning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4864608"/>
            <a:ext cx="91440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ZKVault · MCA Final Year · BBD University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877824"/>
            <a:ext cx="1664208" cy="1554480"/>
          </a:xfrm>
          <a:prstGeom prst="rect">
            <a:avLst/>
          </a:prstGeom>
          <a:solidFill>
            <a:srgbClr val="0A1628"/>
          </a:solidFill>
          <a:ln w="12700">
            <a:solidFill>
              <a:srgbClr val="D0E8FA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64592" y="877824"/>
            <a:ext cx="1664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19456" y="1371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Identification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9456" y="184708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cloud security gaps; identified zero-knowledge architecture as solution.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938528" y="877824"/>
            <a:ext cx="1664208" cy="1554480"/>
          </a:xfrm>
          <a:prstGeom prst="rect">
            <a:avLst/>
          </a:prstGeom>
          <a:solidFill>
            <a:srgbClr val="0A1628"/>
          </a:solidFill>
          <a:ln w="12700">
            <a:solidFill>
              <a:srgbClr val="D0E8FA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938528" y="877824"/>
            <a:ext cx="1664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993392" y="1371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Analysis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93392" y="184708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needs of students, organizations, and admins requiring secure file sharing.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712464" y="877824"/>
            <a:ext cx="1664208" cy="1554480"/>
          </a:xfrm>
          <a:prstGeom prst="rect">
            <a:avLst/>
          </a:prstGeom>
          <a:solidFill>
            <a:srgbClr val="0A1628"/>
          </a:solidFill>
          <a:ln w="12700">
            <a:solidFill>
              <a:srgbClr val="D0E8FA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12464" y="877824"/>
            <a:ext cx="1664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767328" y="1371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Gathering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767328" y="184708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functional &amp; non-functional requirements via use-case analysis.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486400" y="877824"/>
            <a:ext cx="1664208" cy="1554480"/>
          </a:xfrm>
          <a:prstGeom prst="rect">
            <a:avLst/>
          </a:prstGeom>
          <a:solidFill>
            <a:srgbClr val="0A1628"/>
          </a:solidFill>
          <a:ln w="12700">
            <a:solidFill>
              <a:srgbClr val="D0E8FA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0" y="877824"/>
            <a:ext cx="1664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541264" y="1371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Planning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541264" y="184708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tech stack (Django+MySQL), architecture, and project timeline (Jan–Apr 2026).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260336" y="877824"/>
            <a:ext cx="1664208" cy="1554480"/>
          </a:xfrm>
          <a:prstGeom prst="rect">
            <a:avLst/>
          </a:prstGeom>
          <a:solidFill>
            <a:srgbClr val="0A1628"/>
          </a:solidFill>
          <a:ln w="12700">
            <a:solidFill>
              <a:srgbClr val="D0E8FA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260336" y="877824"/>
            <a:ext cx="1664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315200" y="1371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Prototyping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0" y="184708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DFDs, ER diagrams, UI mockups, and database schema before coding.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56032" y="2633472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Software Requirements</a:t>
            </a:r>
            <a:endParaRPr lang="en-US" sz="13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3035808"/>
          <a:ext cx="8631936" cy="20574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12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8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 Requirements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 Core i3 / AMD equivalent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 Core i5 / i7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GB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GB or higher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GB HDD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GB SSD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10 / Ubuntu 20.04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11 / Ubuntu 22.04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Chrome 90+, Firefox 88+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Latest Chrome/Edge (V8 engine)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3.8+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3.11+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 (dev) / MySQL 8.0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 8.0 / PostgreSQL 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Server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Django Dev Server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Nginx + Gunicorn (production)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 Specifications (SRS) — Functional Requirements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4864608"/>
            <a:ext cx="91440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ZKVault · MCA Final Year · BBD University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822960"/>
            <a:ext cx="8631936" cy="32918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822960"/>
            <a:ext cx="713232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Req. ID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24128" y="822960"/>
            <a:ext cx="1408176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50592" y="822960"/>
            <a:ext cx="640080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Description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" y="1170432"/>
            <a:ext cx="8631936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1170432"/>
            <a:ext cx="71323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24128" y="1170432"/>
            <a:ext cx="140817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50592" y="1170432"/>
            <a:ext cx="636422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shall register with email/password. Django authentication enforces secure session management, CSRF protection, and account lockout after failed attempts.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56032" y="1636776"/>
            <a:ext cx="8631936" cy="457200"/>
          </a:xfrm>
          <a:prstGeom prst="rect">
            <a:avLst/>
          </a:prstGeom>
          <a:solidFill>
            <a:srgbClr val="F0F7FF"/>
          </a:solidFill>
          <a:ln w="6350">
            <a:solidFill>
              <a:srgbClr val="D0E8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" y="1636776"/>
            <a:ext cx="71323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24128" y="1636776"/>
            <a:ext cx="140817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450592" y="1636776"/>
            <a:ext cx="636422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shall upload files of any type (max 500 MB/file). JavaScript encrypts each file client-side using AES-256 before transmission. Server stores ciphertext only.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56032" y="2103120"/>
            <a:ext cx="8631936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" y="2103120"/>
            <a:ext cx="71323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24128" y="2103120"/>
            <a:ext cx="140817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Download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450592" y="2103120"/>
            <a:ext cx="636422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owners and authorized users may download files. The decryption key is derived client-side from user credentials; server never processes plaintext.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56032" y="2569464"/>
            <a:ext cx="8631936" cy="457200"/>
          </a:xfrm>
          <a:prstGeom prst="rect">
            <a:avLst/>
          </a:prstGeom>
          <a:solidFill>
            <a:srgbClr val="F0F7FF"/>
          </a:solidFill>
          <a:ln w="6350">
            <a:solidFill>
              <a:srgbClr val="D0E8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" y="2569464"/>
            <a:ext cx="71323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24128" y="2569464"/>
            <a:ext cx="140817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Sharing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450592" y="2569464"/>
            <a:ext cx="636422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shall generate share tokens (32-char random). Links support: optional password, expiry datetime, max download count, and preview toggle.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56032" y="3035808"/>
            <a:ext cx="8631936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2608" y="3035808"/>
            <a:ext cx="71323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24128" y="3035808"/>
            <a:ext cx="140817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450592" y="3035808"/>
            <a:ext cx="636422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owners grant View/Download/Manage permissions to other registered users by email. Permissions may be revoked at any time.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56032" y="3502152"/>
            <a:ext cx="8631936" cy="457200"/>
          </a:xfrm>
          <a:prstGeom prst="rect">
            <a:avLst/>
          </a:prstGeom>
          <a:solidFill>
            <a:srgbClr val="F0F7FF"/>
          </a:solidFill>
          <a:ln w="6350">
            <a:solidFill>
              <a:srgbClr val="D0E8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2608" y="3502152"/>
            <a:ext cx="71323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24128" y="3502152"/>
            <a:ext cx="140817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Management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450592" y="3502152"/>
            <a:ext cx="636422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may rename or soft-delete their files. Deleted files are flagged is_deleted; storage quota is recalculated immediately.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56032" y="3968496"/>
            <a:ext cx="8631936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2608" y="3968496"/>
            <a:ext cx="71323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24128" y="3968496"/>
            <a:ext cx="140817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Logging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450592" y="3968496"/>
            <a:ext cx="636422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user actions (upload, download, share, delete, login, logout) are logged with timestamp, IP address, and user agent for audit purposes.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56032" y="4434840"/>
            <a:ext cx="8631936" cy="457200"/>
          </a:xfrm>
          <a:prstGeom prst="rect">
            <a:avLst/>
          </a:prstGeom>
          <a:solidFill>
            <a:srgbClr val="F0F7FF"/>
          </a:solidFill>
          <a:ln w="6350">
            <a:solidFill>
              <a:srgbClr val="D0E8F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2608" y="4434840"/>
            <a:ext cx="71323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FR-08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24128" y="4434840"/>
            <a:ext cx="140817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450592" y="4434840"/>
            <a:ext cx="636422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users access system-wide stats: total users, files, storage. Admins may suspend/delete user accounts. Activity logs visible across all users.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 Specifications (SRS) — Non-Functional Requirements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4864608"/>
            <a:ext cx="91440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ZKVault · MCA Final Year · BBD University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822960"/>
            <a:ext cx="2816352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A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822960"/>
            <a:ext cx="2816352" cy="402336"/>
          </a:xfrm>
          <a:prstGeom prst="rect">
            <a:avLst/>
          </a:prstGeom>
          <a:solidFill>
            <a:srgbClr val="0A1628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877824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822960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47472" y="128016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Zero-Knowledge Architecture: server cannot decrypt files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47472" y="1572768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AES-256 encryption enforced for all stored files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347472" y="1865376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CSRF/XSS protection via Django middleware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347472" y="2157984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Secure HTTPS in production (SSL redirect)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47472" y="2450592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Password hashing with Django PBKDF2 / bcrypt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00400" y="822960"/>
            <a:ext cx="2816352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A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00400" y="822960"/>
            <a:ext cx="2816352" cy="402336"/>
          </a:xfrm>
          <a:prstGeom prst="rect">
            <a:avLst/>
          </a:prstGeom>
          <a:solidFill>
            <a:srgbClr val="0A1628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5264" y="877824"/>
            <a:ext cx="292608" cy="29260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602736" y="822960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291840" y="128016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File upload/download response &lt; 3s for files ≤ 50 MB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3291840" y="1572768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Client-side encryption non-blocking (Web Workers)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3291840" y="1865376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Django query optimization via select_related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3291840" y="2157984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Pagination on all list views (50 items/page)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3291840" y="2450592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Static files served via Nginx CDN in production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6144768" y="822960"/>
            <a:ext cx="2816352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A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144768" y="822960"/>
            <a:ext cx="2816352" cy="402336"/>
          </a:xfrm>
          <a:prstGeom prst="rect">
            <a:avLst/>
          </a:prstGeom>
          <a:solidFill>
            <a:srgbClr val="0A1628"/>
          </a:solidFill>
          <a:ln/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632" y="877824"/>
            <a:ext cx="292608" cy="29260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547104" y="822960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6236208" y="128016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Responsive UI: Bootstrap 5 for mobile/tablet/desktop</a:t>
            </a:r>
            <a:endParaRPr lang="en-US" sz="850" dirty="0"/>
          </a:p>
        </p:txBody>
      </p:sp>
      <p:sp>
        <p:nvSpPr>
          <p:cNvPr id="29" name="Text 24"/>
          <p:cNvSpPr/>
          <p:nvPr/>
        </p:nvSpPr>
        <p:spPr>
          <a:xfrm>
            <a:off x="6236208" y="1572768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Intuitive dashboard — minimal learning curve</a:t>
            </a:r>
            <a:endParaRPr lang="en-US" sz="850" dirty="0"/>
          </a:p>
        </p:txBody>
      </p:sp>
      <p:sp>
        <p:nvSpPr>
          <p:cNvPr id="30" name="Text 25"/>
          <p:cNvSpPr/>
          <p:nvPr/>
        </p:nvSpPr>
        <p:spPr>
          <a:xfrm>
            <a:off x="6236208" y="1865376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upload progress indicator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6236208" y="2157984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Contextual error messages for all form validations</a:t>
            </a:r>
            <a:endParaRPr lang="en-US" sz="850" dirty="0"/>
          </a:p>
        </p:txBody>
      </p:sp>
      <p:sp>
        <p:nvSpPr>
          <p:cNvPr id="32" name="Text 27"/>
          <p:cNvSpPr/>
          <p:nvPr/>
        </p:nvSpPr>
        <p:spPr>
          <a:xfrm>
            <a:off x="6236208" y="2450592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Consistent design system across all pages</a:t>
            </a:r>
            <a:endParaRPr lang="en-US" sz="850" dirty="0"/>
          </a:p>
        </p:txBody>
      </p:sp>
      <p:sp>
        <p:nvSpPr>
          <p:cNvPr id="33" name="Shape 28"/>
          <p:cNvSpPr/>
          <p:nvPr/>
        </p:nvSpPr>
        <p:spPr>
          <a:xfrm>
            <a:off x="256032" y="2907792"/>
            <a:ext cx="2816352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A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256032" y="2907792"/>
            <a:ext cx="2816352" cy="402336"/>
          </a:xfrm>
          <a:prstGeom prst="rect">
            <a:avLst/>
          </a:prstGeom>
          <a:solidFill>
            <a:srgbClr val="0A1628"/>
          </a:solidFill>
          <a:ln/>
        </p:spPr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896" y="2962656"/>
            <a:ext cx="292608" cy="292608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58368" y="2907792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347472" y="3364992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99.5% uptime SLA in production deployment</a:t>
            </a:r>
            <a:endParaRPr lang="en-US" sz="850" dirty="0"/>
          </a:p>
        </p:txBody>
      </p:sp>
      <p:sp>
        <p:nvSpPr>
          <p:cNvPr id="38" name="Text 32"/>
          <p:cNvSpPr/>
          <p:nvPr/>
        </p:nvSpPr>
        <p:spPr>
          <a:xfrm>
            <a:off x="347472" y="365760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Soft-delete prevents accidental permanent data loss</a:t>
            </a:r>
            <a:endParaRPr lang="en-US" sz="850" dirty="0"/>
          </a:p>
        </p:txBody>
      </p:sp>
      <p:sp>
        <p:nvSpPr>
          <p:cNvPr id="39" name="Text 33"/>
          <p:cNvSpPr/>
          <p:nvPr/>
        </p:nvSpPr>
        <p:spPr>
          <a:xfrm>
            <a:off x="347472" y="3950208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Database transaction integrity for all file operations</a:t>
            </a:r>
            <a:endParaRPr lang="en-US" sz="850" dirty="0"/>
          </a:p>
        </p:txBody>
      </p:sp>
      <p:sp>
        <p:nvSpPr>
          <p:cNvPr id="40" name="Text 34"/>
          <p:cNvSpPr/>
          <p:nvPr/>
        </p:nvSpPr>
        <p:spPr>
          <a:xfrm>
            <a:off x="347472" y="4242816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Automatic storage quota checks before every upload</a:t>
            </a:r>
            <a:endParaRPr lang="en-US" sz="850" dirty="0"/>
          </a:p>
        </p:txBody>
      </p:sp>
      <p:sp>
        <p:nvSpPr>
          <p:cNvPr id="41" name="Text 35"/>
          <p:cNvSpPr/>
          <p:nvPr/>
        </p:nvSpPr>
        <p:spPr>
          <a:xfrm>
            <a:off x="347472" y="4535424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Activity logs preserve audit trail permanently</a:t>
            </a:r>
            <a:endParaRPr lang="en-US" sz="850" dirty="0"/>
          </a:p>
        </p:txBody>
      </p:sp>
      <p:sp>
        <p:nvSpPr>
          <p:cNvPr id="42" name="Shape 36"/>
          <p:cNvSpPr/>
          <p:nvPr/>
        </p:nvSpPr>
        <p:spPr>
          <a:xfrm>
            <a:off x="3200400" y="2907792"/>
            <a:ext cx="2816352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A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Shape 37"/>
          <p:cNvSpPr/>
          <p:nvPr/>
        </p:nvSpPr>
        <p:spPr>
          <a:xfrm>
            <a:off x="3200400" y="2907792"/>
            <a:ext cx="2816352" cy="402336"/>
          </a:xfrm>
          <a:prstGeom prst="rect">
            <a:avLst/>
          </a:prstGeom>
          <a:solidFill>
            <a:srgbClr val="0A1628"/>
          </a:solidFill>
          <a:ln/>
        </p:spPr>
      </p:sp>
      <p:pic>
        <p:nvPicPr>
          <p:cNvPr id="4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55264" y="2962656"/>
            <a:ext cx="292608" cy="292608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3602736" y="2907792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100" dirty="0"/>
          </a:p>
        </p:txBody>
      </p:sp>
      <p:sp>
        <p:nvSpPr>
          <p:cNvPr id="46" name="Text 39"/>
          <p:cNvSpPr/>
          <p:nvPr/>
        </p:nvSpPr>
        <p:spPr>
          <a:xfrm>
            <a:off x="3291840" y="3364992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Stateless Django views support horizontal scaling</a:t>
            </a:r>
            <a:endParaRPr lang="en-US" sz="850" dirty="0"/>
          </a:p>
        </p:txBody>
      </p:sp>
      <p:sp>
        <p:nvSpPr>
          <p:cNvPr id="47" name="Text 40"/>
          <p:cNvSpPr/>
          <p:nvPr/>
        </p:nvSpPr>
        <p:spPr>
          <a:xfrm>
            <a:off x="3291840" y="365760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Media files abstracted (local → S3 via django-storages)</a:t>
            </a:r>
            <a:endParaRPr lang="en-US" sz="850" dirty="0"/>
          </a:p>
        </p:txBody>
      </p:sp>
      <p:sp>
        <p:nvSpPr>
          <p:cNvPr id="48" name="Text 41"/>
          <p:cNvSpPr/>
          <p:nvPr/>
        </p:nvSpPr>
        <p:spPr>
          <a:xfrm>
            <a:off x="3291840" y="3950208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Database: SQLite (dev) → MySQL/PostgreSQL (prod)</a:t>
            </a:r>
            <a:endParaRPr lang="en-US" sz="850" dirty="0"/>
          </a:p>
        </p:txBody>
      </p:sp>
      <p:sp>
        <p:nvSpPr>
          <p:cNvPr id="49" name="Text 42"/>
          <p:cNvSpPr/>
          <p:nvPr/>
        </p:nvSpPr>
        <p:spPr>
          <a:xfrm>
            <a:off x="3291840" y="4242816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Celery-ready for async file processing tasks</a:t>
            </a:r>
            <a:endParaRPr lang="en-US" sz="850" dirty="0"/>
          </a:p>
        </p:txBody>
      </p:sp>
      <p:sp>
        <p:nvSpPr>
          <p:cNvPr id="50" name="Text 43"/>
          <p:cNvSpPr/>
          <p:nvPr/>
        </p:nvSpPr>
        <p:spPr>
          <a:xfrm>
            <a:off x="3291840" y="4535424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Modular app structure (accounts, vault) for growth</a:t>
            </a:r>
            <a:endParaRPr lang="en-US" sz="850" dirty="0"/>
          </a:p>
        </p:txBody>
      </p:sp>
      <p:sp>
        <p:nvSpPr>
          <p:cNvPr id="51" name="Shape 44"/>
          <p:cNvSpPr/>
          <p:nvPr/>
        </p:nvSpPr>
        <p:spPr>
          <a:xfrm>
            <a:off x="6144768" y="2907792"/>
            <a:ext cx="2816352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A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2" name="Shape 45"/>
          <p:cNvSpPr/>
          <p:nvPr/>
        </p:nvSpPr>
        <p:spPr>
          <a:xfrm>
            <a:off x="6144768" y="2907792"/>
            <a:ext cx="2816352" cy="402336"/>
          </a:xfrm>
          <a:prstGeom prst="rect">
            <a:avLst/>
          </a:prstGeom>
          <a:solidFill>
            <a:srgbClr val="0A1628"/>
          </a:solidFill>
          <a:ln/>
        </p:spPr>
      </p:sp>
      <p:pic>
        <p:nvPicPr>
          <p:cNvPr id="5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9632" y="2962656"/>
            <a:ext cx="292608" cy="292608"/>
          </a:xfrm>
          <a:prstGeom prst="rect">
            <a:avLst/>
          </a:prstGeom>
        </p:spPr>
      </p:pic>
      <p:sp>
        <p:nvSpPr>
          <p:cNvPr id="54" name="Text 46"/>
          <p:cNvSpPr/>
          <p:nvPr/>
        </p:nvSpPr>
        <p:spPr>
          <a:xfrm>
            <a:off x="6547104" y="2907792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1100" dirty="0"/>
          </a:p>
        </p:txBody>
      </p:sp>
      <p:sp>
        <p:nvSpPr>
          <p:cNvPr id="55" name="Text 47"/>
          <p:cNvSpPr/>
          <p:nvPr/>
        </p:nvSpPr>
        <p:spPr>
          <a:xfrm>
            <a:off x="6236208" y="3364992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PEP-8 compliant Python code throughout</a:t>
            </a:r>
            <a:endParaRPr lang="en-US" sz="850" dirty="0"/>
          </a:p>
        </p:txBody>
      </p:sp>
      <p:sp>
        <p:nvSpPr>
          <p:cNvPr id="56" name="Text 48"/>
          <p:cNvSpPr/>
          <p:nvPr/>
        </p:nvSpPr>
        <p:spPr>
          <a:xfrm>
            <a:off x="6236208" y="365760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Django migrations for zero-downtime schema changes</a:t>
            </a:r>
            <a:endParaRPr lang="en-US" sz="850" dirty="0"/>
          </a:p>
        </p:txBody>
      </p:sp>
      <p:sp>
        <p:nvSpPr>
          <p:cNvPr id="57" name="Text 49"/>
          <p:cNvSpPr/>
          <p:nvPr/>
        </p:nvSpPr>
        <p:spPr>
          <a:xfrm>
            <a:off x="6236208" y="3950208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README.md with full setup and API documentation</a:t>
            </a:r>
            <a:endParaRPr lang="en-US" sz="850" dirty="0"/>
          </a:p>
        </p:txBody>
      </p:sp>
      <p:sp>
        <p:nvSpPr>
          <p:cNvPr id="58" name="Text 50"/>
          <p:cNvSpPr/>
          <p:nvPr/>
        </p:nvSpPr>
        <p:spPr>
          <a:xfrm>
            <a:off x="6236208" y="4242816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Admin panel for production monitoring</a:t>
            </a:r>
            <a:endParaRPr lang="en-US" sz="850" dirty="0"/>
          </a:p>
        </p:txBody>
      </p:sp>
      <p:sp>
        <p:nvSpPr>
          <p:cNvPr id="59" name="Text 51"/>
          <p:cNvSpPr/>
          <p:nvPr/>
        </p:nvSpPr>
        <p:spPr>
          <a:xfrm>
            <a:off x="6236208" y="4535424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requirements.txt for reproducible environments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Design — Entity Relationship Diagram (ER Diagram)</a:t>
            </a:r>
            <a:endParaRPr lang="en-US" sz="2200" dirty="0"/>
          </a:p>
        </p:txBody>
      </p:sp>
      <p:pic>
        <p:nvPicPr>
          <p:cNvPr id="5" name="Picture 4" descr="er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20000"/>
            <a:ext cx="8686800" cy="553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Design — 3-Tier System Architecture</a:t>
            </a:r>
            <a:endParaRPr lang="en-US" sz="2200" dirty="0"/>
          </a:p>
        </p:txBody>
      </p:sp>
      <p:pic>
        <p:nvPicPr>
          <p:cNvPr id="5" name="Picture 4" descr="physical_desig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31520"/>
            <a:ext cx="8686800" cy="439752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Diagram — Level 0 (Context Diagram)</a:t>
            </a:r>
            <a:endParaRPr lang="en-US" sz="2200" dirty="0"/>
          </a:p>
        </p:txBody>
      </p:sp>
      <p:pic>
        <p:nvPicPr>
          <p:cNvPr id="5" name="Picture 4" descr="dfd_l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20000"/>
            <a:ext cx="8686800" cy="553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Diagram — Level 1 (Decomposed System Processes)</a:t>
            </a:r>
            <a:endParaRPr lang="en-US" sz="2200" dirty="0"/>
          </a:p>
        </p:txBody>
      </p:sp>
      <p:pic>
        <p:nvPicPr>
          <p:cNvPr id="5" name="Picture 4" descr="dfd_l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20000"/>
            <a:ext cx="8686800" cy="553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&amp; Tools Used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4864608"/>
            <a:ext cx="91440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ZKVault · MCA Final Year · BBD University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841248"/>
            <a:ext cx="21031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A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841248"/>
            <a:ext cx="2103120" cy="457200"/>
          </a:xfrm>
          <a:prstGeom prst="rect">
            <a:avLst/>
          </a:prstGeom>
          <a:solidFill>
            <a:srgbClr val="1565C0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877824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8412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7472" y="1389888"/>
            <a:ext cx="1920240" cy="310896"/>
          </a:xfrm>
          <a:prstGeom prst="rect">
            <a:avLst/>
          </a:prstGeom>
          <a:solidFill>
            <a:srgbClr val="1565C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47472" y="138988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/ CSS3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47472" y="171907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markup, responsive layout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47472" y="2103120"/>
            <a:ext cx="1920240" cy="310896"/>
          </a:xfrm>
          <a:prstGeom prst="rect">
            <a:avLst/>
          </a:prstGeom>
          <a:solidFill>
            <a:srgbClr val="1565C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47472" y="210312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47472" y="24323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UI component framework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347472" y="2816352"/>
            <a:ext cx="1920240" cy="310896"/>
          </a:xfrm>
          <a:prstGeom prst="rect">
            <a:avLst/>
          </a:prstGeom>
          <a:solidFill>
            <a:srgbClr val="1565C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347472" y="281635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ES6+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47472" y="314553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interactions, AJAX calls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347472" y="3529584"/>
            <a:ext cx="1920240" cy="310896"/>
          </a:xfrm>
          <a:prstGeom prst="rect">
            <a:avLst/>
          </a:prstGeom>
          <a:solidFill>
            <a:srgbClr val="1565C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347472" y="352958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Crypto API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47472" y="38587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Browser-native AES-256 encryption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2468880" y="841248"/>
            <a:ext cx="21031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A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2468880" y="841248"/>
            <a:ext cx="2103120" cy="457200"/>
          </a:xfrm>
          <a:prstGeom prst="rect">
            <a:avLst/>
          </a:prstGeom>
          <a:solidFill>
            <a:srgbClr val="00897B"/>
          </a:solidFill>
          <a:ln/>
        </p:spPr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3744" y="877824"/>
            <a:ext cx="347472" cy="34747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2944368" y="8412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2560320" y="1389888"/>
            <a:ext cx="1920240" cy="310896"/>
          </a:xfrm>
          <a:prstGeom prst="rect">
            <a:avLst/>
          </a:prstGeom>
          <a:solidFill>
            <a:srgbClr val="00897B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3"/>
          <p:cNvSpPr/>
          <p:nvPr/>
        </p:nvSpPr>
        <p:spPr>
          <a:xfrm>
            <a:off x="2560320" y="138988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2560320" y="171907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backend programming language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2560320" y="2103120"/>
            <a:ext cx="1920240" cy="310896"/>
          </a:xfrm>
          <a:prstGeom prst="rect">
            <a:avLst/>
          </a:prstGeom>
          <a:solidFill>
            <a:srgbClr val="00897B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6"/>
          <p:cNvSpPr/>
          <p:nvPr/>
        </p:nvSpPr>
        <p:spPr>
          <a:xfrm>
            <a:off x="2560320" y="210312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5.0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2560320" y="24323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MVT web framework + ORM + Admin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2560320" y="2816352"/>
            <a:ext cx="1920240" cy="310896"/>
          </a:xfrm>
          <a:prstGeom prst="rect">
            <a:avLst/>
          </a:prstGeom>
          <a:solidFill>
            <a:srgbClr val="00897B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29"/>
          <p:cNvSpPr/>
          <p:nvPr/>
        </p:nvSpPr>
        <p:spPr>
          <a:xfrm>
            <a:off x="2560320" y="281635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Auth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2560320" y="314553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Session, CSRF, permission management</a:t>
            </a:r>
            <a:endParaRPr lang="en-US" sz="850" dirty="0"/>
          </a:p>
        </p:txBody>
      </p:sp>
      <p:sp>
        <p:nvSpPr>
          <p:cNvPr id="35" name="Shape 31"/>
          <p:cNvSpPr/>
          <p:nvPr/>
        </p:nvSpPr>
        <p:spPr>
          <a:xfrm>
            <a:off x="2560320" y="3529584"/>
            <a:ext cx="1920240" cy="310896"/>
          </a:xfrm>
          <a:prstGeom prst="rect">
            <a:avLst/>
          </a:prstGeom>
          <a:solidFill>
            <a:srgbClr val="00897B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32"/>
          <p:cNvSpPr/>
          <p:nvPr/>
        </p:nvSpPr>
        <p:spPr>
          <a:xfrm>
            <a:off x="2560320" y="352958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Gunicorn</a:t>
            </a:r>
            <a:endParaRPr lang="en-US" sz="1000" dirty="0"/>
          </a:p>
        </p:txBody>
      </p:sp>
      <p:sp>
        <p:nvSpPr>
          <p:cNvPr id="37" name="Text 33"/>
          <p:cNvSpPr/>
          <p:nvPr/>
        </p:nvSpPr>
        <p:spPr>
          <a:xfrm>
            <a:off x="2560320" y="38587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WSGI server for production deployment</a:t>
            </a:r>
            <a:endParaRPr lang="en-US" sz="850" dirty="0"/>
          </a:p>
        </p:txBody>
      </p:sp>
      <p:sp>
        <p:nvSpPr>
          <p:cNvPr id="38" name="Shape 34"/>
          <p:cNvSpPr/>
          <p:nvPr/>
        </p:nvSpPr>
        <p:spPr>
          <a:xfrm>
            <a:off x="4681728" y="841248"/>
            <a:ext cx="21031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A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5"/>
          <p:cNvSpPr/>
          <p:nvPr/>
        </p:nvSpPr>
        <p:spPr>
          <a:xfrm>
            <a:off x="4681728" y="841248"/>
            <a:ext cx="2103120" cy="457200"/>
          </a:xfrm>
          <a:prstGeom prst="rect">
            <a:avLst/>
          </a:prstGeom>
          <a:solidFill>
            <a:srgbClr val="5C3BA4"/>
          </a:solidFill>
          <a:ln/>
        </p:spPr>
      </p:sp>
      <p:pic>
        <p:nvPicPr>
          <p:cNvPr id="4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592" y="877824"/>
            <a:ext cx="347472" cy="347472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5157216" y="8412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42" name="Shape 37"/>
          <p:cNvSpPr/>
          <p:nvPr/>
        </p:nvSpPr>
        <p:spPr>
          <a:xfrm>
            <a:off x="4773168" y="1389888"/>
            <a:ext cx="1920240" cy="310896"/>
          </a:xfrm>
          <a:prstGeom prst="rect">
            <a:avLst/>
          </a:prstGeom>
          <a:solidFill>
            <a:srgbClr val="5C3BA4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Text 38"/>
          <p:cNvSpPr/>
          <p:nvPr/>
        </p:nvSpPr>
        <p:spPr>
          <a:xfrm>
            <a:off x="4773168" y="138988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000" dirty="0"/>
          </a:p>
        </p:txBody>
      </p:sp>
      <p:sp>
        <p:nvSpPr>
          <p:cNvPr id="44" name="Text 39"/>
          <p:cNvSpPr/>
          <p:nvPr/>
        </p:nvSpPr>
        <p:spPr>
          <a:xfrm>
            <a:off x="4773168" y="171907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/ local testing database</a:t>
            </a:r>
            <a:endParaRPr lang="en-US" sz="850" dirty="0"/>
          </a:p>
        </p:txBody>
      </p:sp>
      <p:sp>
        <p:nvSpPr>
          <p:cNvPr id="45" name="Shape 40"/>
          <p:cNvSpPr/>
          <p:nvPr/>
        </p:nvSpPr>
        <p:spPr>
          <a:xfrm>
            <a:off x="4773168" y="2103120"/>
            <a:ext cx="1920240" cy="310896"/>
          </a:xfrm>
          <a:prstGeom prst="rect">
            <a:avLst/>
          </a:prstGeom>
          <a:solidFill>
            <a:srgbClr val="5C3BA4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Text 41"/>
          <p:cNvSpPr/>
          <p:nvPr/>
        </p:nvSpPr>
        <p:spPr>
          <a:xfrm>
            <a:off x="4773168" y="210312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</a:t>
            </a:r>
            <a:endParaRPr lang="en-US" sz="1000" dirty="0"/>
          </a:p>
        </p:txBody>
      </p:sp>
      <p:sp>
        <p:nvSpPr>
          <p:cNvPr id="47" name="Text 42"/>
          <p:cNvSpPr/>
          <p:nvPr/>
        </p:nvSpPr>
        <p:spPr>
          <a:xfrm>
            <a:off x="4773168" y="24323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relational database</a:t>
            </a:r>
            <a:endParaRPr lang="en-US" sz="850" dirty="0"/>
          </a:p>
        </p:txBody>
      </p:sp>
      <p:sp>
        <p:nvSpPr>
          <p:cNvPr id="48" name="Shape 43"/>
          <p:cNvSpPr/>
          <p:nvPr/>
        </p:nvSpPr>
        <p:spPr>
          <a:xfrm>
            <a:off x="4773168" y="2816352"/>
            <a:ext cx="1920240" cy="310896"/>
          </a:xfrm>
          <a:prstGeom prst="rect">
            <a:avLst/>
          </a:prstGeom>
          <a:solidFill>
            <a:srgbClr val="5C3BA4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9" name="Text 44"/>
          <p:cNvSpPr/>
          <p:nvPr/>
        </p:nvSpPr>
        <p:spPr>
          <a:xfrm>
            <a:off x="4773168" y="281635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ORM</a:t>
            </a:r>
            <a:endParaRPr lang="en-US" sz="1000" dirty="0"/>
          </a:p>
        </p:txBody>
      </p:sp>
      <p:sp>
        <p:nvSpPr>
          <p:cNvPr id="50" name="Text 45"/>
          <p:cNvSpPr/>
          <p:nvPr/>
        </p:nvSpPr>
        <p:spPr>
          <a:xfrm>
            <a:off x="4773168" y="314553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Database-agnostic query abstraction</a:t>
            </a:r>
            <a:endParaRPr lang="en-US" sz="850" dirty="0"/>
          </a:p>
        </p:txBody>
      </p:sp>
      <p:sp>
        <p:nvSpPr>
          <p:cNvPr id="51" name="Shape 46"/>
          <p:cNvSpPr/>
          <p:nvPr/>
        </p:nvSpPr>
        <p:spPr>
          <a:xfrm>
            <a:off x="4773168" y="3529584"/>
            <a:ext cx="1920240" cy="310896"/>
          </a:xfrm>
          <a:prstGeom prst="rect">
            <a:avLst/>
          </a:prstGeom>
          <a:solidFill>
            <a:srgbClr val="5C3BA4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2" name="Text 47"/>
          <p:cNvSpPr/>
          <p:nvPr/>
        </p:nvSpPr>
        <p:spPr>
          <a:xfrm>
            <a:off x="4773168" y="352958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</a:t>
            </a:r>
            <a:endParaRPr lang="en-US" sz="1000" dirty="0"/>
          </a:p>
        </p:txBody>
      </p:sp>
      <p:sp>
        <p:nvSpPr>
          <p:cNvPr id="53" name="Text 48"/>
          <p:cNvSpPr/>
          <p:nvPr/>
        </p:nvSpPr>
        <p:spPr>
          <a:xfrm>
            <a:off x="4773168" y="38587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Version-controlled schema management</a:t>
            </a:r>
            <a:endParaRPr lang="en-US" sz="850" dirty="0"/>
          </a:p>
        </p:txBody>
      </p:sp>
      <p:sp>
        <p:nvSpPr>
          <p:cNvPr id="54" name="Shape 49"/>
          <p:cNvSpPr/>
          <p:nvPr/>
        </p:nvSpPr>
        <p:spPr>
          <a:xfrm>
            <a:off x="6894576" y="841248"/>
            <a:ext cx="21031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A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5" name="Shape 50"/>
          <p:cNvSpPr/>
          <p:nvPr/>
        </p:nvSpPr>
        <p:spPr>
          <a:xfrm>
            <a:off x="6894576" y="841248"/>
            <a:ext cx="2103120" cy="457200"/>
          </a:xfrm>
          <a:prstGeom prst="rect">
            <a:avLst/>
          </a:prstGeom>
          <a:solidFill>
            <a:srgbClr val="37474F"/>
          </a:solidFill>
          <a:ln/>
        </p:spPr>
      </p:sp>
      <p:pic>
        <p:nvPicPr>
          <p:cNvPr id="5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0" y="877824"/>
            <a:ext cx="347472" cy="347472"/>
          </a:xfrm>
          <a:prstGeom prst="rect">
            <a:avLst/>
          </a:prstGeom>
        </p:spPr>
      </p:pic>
      <p:sp>
        <p:nvSpPr>
          <p:cNvPr id="57" name="Text 51"/>
          <p:cNvSpPr/>
          <p:nvPr/>
        </p:nvSpPr>
        <p:spPr>
          <a:xfrm>
            <a:off x="7370064" y="8412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&amp; Deploy</a:t>
            </a:r>
            <a:endParaRPr lang="en-US" sz="1200" dirty="0"/>
          </a:p>
        </p:txBody>
      </p:sp>
      <p:sp>
        <p:nvSpPr>
          <p:cNvPr id="58" name="Shape 52"/>
          <p:cNvSpPr/>
          <p:nvPr/>
        </p:nvSpPr>
        <p:spPr>
          <a:xfrm>
            <a:off x="6986016" y="1389888"/>
            <a:ext cx="1920240" cy="310896"/>
          </a:xfrm>
          <a:prstGeom prst="rect">
            <a:avLst/>
          </a:prstGeom>
          <a:solidFill>
            <a:srgbClr val="37474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9" name="Text 53"/>
          <p:cNvSpPr/>
          <p:nvPr/>
        </p:nvSpPr>
        <p:spPr>
          <a:xfrm>
            <a:off x="6986016" y="138988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000" dirty="0"/>
          </a:p>
        </p:txBody>
      </p:sp>
      <p:sp>
        <p:nvSpPr>
          <p:cNvPr id="60" name="Text 54"/>
          <p:cNvSpPr/>
          <p:nvPr/>
        </p:nvSpPr>
        <p:spPr>
          <a:xfrm>
            <a:off x="6986016" y="171907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IDE with Python/Django ext.</a:t>
            </a:r>
            <a:endParaRPr lang="en-US" sz="850" dirty="0"/>
          </a:p>
        </p:txBody>
      </p:sp>
      <p:sp>
        <p:nvSpPr>
          <p:cNvPr id="61" name="Shape 55"/>
          <p:cNvSpPr/>
          <p:nvPr/>
        </p:nvSpPr>
        <p:spPr>
          <a:xfrm>
            <a:off x="6986016" y="2103120"/>
            <a:ext cx="1920240" cy="310896"/>
          </a:xfrm>
          <a:prstGeom prst="rect">
            <a:avLst/>
          </a:prstGeom>
          <a:solidFill>
            <a:srgbClr val="37474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2" name="Text 56"/>
          <p:cNvSpPr/>
          <p:nvPr/>
        </p:nvSpPr>
        <p:spPr>
          <a:xfrm>
            <a:off x="6986016" y="210312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000" dirty="0"/>
          </a:p>
        </p:txBody>
      </p:sp>
      <p:sp>
        <p:nvSpPr>
          <p:cNvPr id="63" name="Text 57"/>
          <p:cNvSpPr/>
          <p:nvPr/>
        </p:nvSpPr>
        <p:spPr>
          <a:xfrm>
            <a:off x="6986016" y="243230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and collaboration</a:t>
            </a:r>
            <a:endParaRPr lang="en-US" sz="850" dirty="0"/>
          </a:p>
        </p:txBody>
      </p:sp>
      <p:sp>
        <p:nvSpPr>
          <p:cNvPr id="64" name="Shape 58"/>
          <p:cNvSpPr/>
          <p:nvPr/>
        </p:nvSpPr>
        <p:spPr>
          <a:xfrm>
            <a:off x="6986016" y="2816352"/>
            <a:ext cx="1920240" cy="310896"/>
          </a:xfrm>
          <a:prstGeom prst="rect">
            <a:avLst/>
          </a:prstGeom>
          <a:solidFill>
            <a:srgbClr val="37474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5" name="Text 59"/>
          <p:cNvSpPr/>
          <p:nvPr/>
        </p:nvSpPr>
        <p:spPr>
          <a:xfrm>
            <a:off x="6986016" y="281635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1000" dirty="0"/>
          </a:p>
        </p:txBody>
      </p:sp>
      <p:sp>
        <p:nvSpPr>
          <p:cNvPr id="66" name="Text 60"/>
          <p:cNvSpPr/>
          <p:nvPr/>
        </p:nvSpPr>
        <p:spPr>
          <a:xfrm>
            <a:off x="6986016" y="314553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reverse proxy server</a:t>
            </a:r>
            <a:endParaRPr lang="en-US" sz="850" dirty="0"/>
          </a:p>
        </p:txBody>
      </p:sp>
      <p:sp>
        <p:nvSpPr>
          <p:cNvPr id="67" name="Shape 61"/>
          <p:cNvSpPr/>
          <p:nvPr/>
        </p:nvSpPr>
        <p:spPr>
          <a:xfrm>
            <a:off x="6986016" y="3529584"/>
            <a:ext cx="1920240" cy="310896"/>
          </a:xfrm>
          <a:prstGeom prst="rect">
            <a:avLst/>
          </a:prstGeom>
          <a:solidFill>
            <a:srgbClr val="37474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8" name="Text 62"/>
          <p:cNvSpPr/>
          <p:nvPr/>
        </p:nvSpPr>
        <p:spPr>
          <a:xfrm>
            <a:off x="6986016" y="352958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Pillow</a:t>
            </a:r>
            <a:endParaRPr lang="en-US" sz="1000" dirty="0"/>
          </a:p>
        </p:txBody>
      </p:sp>
      <p:sp>
        <p:nvSpPr>
          <p:cNvPr id="69" name="Text 63"/>
          <p:cNvSpPr/>
          <p:nvPr/>
        </p:nvSpPr>
        <p:spPr>
          <a:xfrm>
            <a:off x="6986016" y="38587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 image processing library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Gantt Chart — January 15, 2026 to April 15, 2026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4864608"/>
            <a:ext cx="91440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ZKVault · MCA Final Year · BBD University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377440" y="969264"/>
            <a:ext cx="1198567" cy="192024"/>
          </a:xfrm>
          <a:prstGeom prst="rect">
            <a:avLst/>
          </a:prstGeom>
          <a:solidFill>
            <a:srgbClr val="0A1628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0" y="969264"/>
            <a:ext cx="1198567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576007" y="969264"/>
            <a:ext cx="1997612" cy="192024"/>
          </a:xfrm>
          <a:prstGeom prst="rect">
            <a:avLst/>
          </a:prstGeom>
          <a:solidFill>
            <a:srgbClr val="0A1628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76007" y="969264"/>
            <a:ext cx="19976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2026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573620" y="969264"/>
            <a:ext cx="1997612" cy="192024"/>
          </a:xfrm>
          <a:prstGeom prst="rect">
            <a:avLst/>
          </a:prstGeom>
          <a:solidFill>
            <a:srgbClr val="0A1628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73620" y="969264"/>
            <a:ext cx="19976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2026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571232" y="969264"/>
            <a:ext cx="1298448" cy="192024"/>
          </a:xfrm>
          <a:prstGeom prst="rect">
            <a:avLst/>
          </a:prstGeom>
          <a:solidFill>
            <a:srgbClr val="0A1628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71232" y="969264"/>
            <a:ext cx="12984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2026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377440" y="1161288"/>
            <a:ext cx="499403" cy="192024"/>
          </a:xfrm>
          <a:prstGeom prst="rect">
            <a:avLst/>
          </a:prstGeom>
          <a:solidFill>
            <a:srgbClr val="1A3A5C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77440" y="1161288"/>
            <a:ext cx="49940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876843" y="1161288"/>
            <a:ext cx="499403" cy="192024"/>
          </a:xfrm>
          <a:prstGeom prst="rect">
            <a:avLst/>
          </a:prstGeom>
          <a:solidFill>
            <a:srgbClr val="1A3A5C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76843" y="1161288"/>
            <a:ext cx="49940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376246" y="1161288"/>
            <a:ext cx="499403" cy="192024"/>
          </a:xfrm>
          <a:prstGeom prst="rect">
            <a:avLst/>
          </a:prstGeom>
          <a:solidFill>
            <a:srgbClr val="1A3A5C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76246" y="1161288"/>
            <a:ext cx="49940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875649" y="1161288"/>
            <a:ext cx="499403" cy="192024"/>
          </a:xfrm>
          <a:prstGeom prst="rect">
            <a:avLst/>
          </a:prstGeom>
          <a:solidFill>
            <a:srgbClr val="1A3A5C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75649" y="1161288"/>
            <a:ext cx="49940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4375052" y="1161288"/>
            <a:ext cx="499403" cy="192024"/>
          </a:xfrm>
          <a:prstGeom prst="rect">
            <a:avLst/>
          </a:prstGeom>
          <a:solidFill>
            <a:srgbClr val="1A3A5C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75052" y="1161288"/>
            <a:ext cx="49940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4874455" y="1161288"/>
            <a:ext cx="499403" cy="192024"/>
          </a:xfrm>
          <a:prstGeom prst="rect">
            <a:avLst/>
          </a:prstGeom>
          <a:solidFill>
            <a:srgbClr val="1A3A5C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4455" y="1161288"/>
            <a:ext cx="49940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5373858" y="1161288"/>
            <a:ext cx="499403" cy="192024"/>
          </a:xfrm>
          <a:prstGeom prst="rect">
            <a:avLst/>
          </a:prstGeom>
          <a:solidFill>
            <a:srgbClr val="1A3A5C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73858" y="1161288"/>
            <a:ext cx="49940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873262" y="1161288"/>
            <a:ext cx="499403" cy="192024"/>
          </a:xfrm>
          <a:prstGeom prst="rect">
            <a:avLst/>
          </a:prstGeom>
          <a:solidFill>
            <a:srgbClr val="1A3A5C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73262" y="1161288"/>
            <a:ext cx="49940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72665" y="1161288"/>
            <a:ext cx="499403" cy="192024"/>
          </a:xfrm>
          <a:prstGeom prst="rect">
            <a:avLst/>
          </a:prstGeom>
          <a:solidFill>
            <a:srgbClr val="1A3A5C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72665" y="1161288"/>
            <a:ext cx="49940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6872068" y="1161288"/>
            <a:ext cx="499403" cy="192024"/>
          </a:xfrm>
          <a:prstGeom prst="rect">
            <a:avLst/>
          </a:prstGeom>
          <a:solidFill>
            <a:srgbClr val="1A3A5C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72068" y="1161288"/>
            <a:ext cx="49940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W10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7371471" y="1161288"/>
            <a:ext cx="499403" cy="192024"/>
          </a:xfrm>
          <a:prstGeom prst="rect">
            <a:avLst/>
          </a:prstGeom>
          <a:solidFill>
            <a:srgbClr val="1A3A5C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71471" y="1161288"/>
            <a:ext cx="49940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W11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7870874" y="1161288"/>
            <a:ext cx="499403" cy="192024"/>
          </a:xfrm>
          <a:prstGeom prst="rect">
            <a:avLst/>
          </a:prstGeom>
          <a:solidFill>
            <a:srgbClr val="1A3A5C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70874" y="1161288"/>
            <a:ext cx="49940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W12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8370277" y="1161288"/>
            <a:ext cx="499403" cy="192024"/>
          </a:xfrm>
          <a:prstGeom prst="rect">
            <a:avLst/>
          </a:prstGeom>
          <a:solidFill>
            <a:srgbClr val="1A3A5C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70277" y="1161288"/>
            <a:ext cx="49940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W13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182880" y="1353312"/>
            <a:ext cx="87782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19456" y="13716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Topic Finalization &amp; Problem Analysis</a:t>
            </a:r>
            <a:endParaRPr lang="en-US" sz="780" dirty="0"/>
          </a:p>
        </p:txBody>
      </p:sp>
      <p:sp>
        <p:nvSpPr>
          <p:cNvPr id="42" name="Shape 40"/>
          <p:cNvSpPr/>
          <p:nvPr/>
        </p:nvSpPr>
        <p:spPr>
          <a:xfrm>
            <a:off x="2377440" y="1399032"/>
            <a:ext cx="749105" cy="201168"/>
          </a:xfrm>
          <a:prstGeom prst="rect">
            <a:avLst/>
          </a:prstGeom>
          <a:solidFill>
            <a:srgbClr val="1565C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182880" y="1700784"/>
            <a:ext cx="8778240" cy="320040"/>
          </a:xfrm>
          <a:prstGeom prst="rect">
            <a:avLst/>
          </a:prstGeom>
          <a:solidFill>
            <a:srgbClr val="F0F7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19456" y="171907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&amp; Feasibility Study</a:t>
            </a:r>
            <a:endParaRPr lang="en-US" sz="780" dirty="0"/>
          </a:p>
        </p:txBody>
      </p:sp>
      <p:sp>
        <p:nvSpPr>
          <p:cNvPr id="45" name="Shape 43"/>
          <p:cNvSpPr/>
          <p:nvPr/>
        </p:nvSpPr>
        <p:spPr>
          <a:xfrm>
            <a:off x="2876843" y="1746504"/>
            <a:ext cx="998806" cy="201168"/>
          </a:xfrm>
          <a:prstGeom prst="rect">
            <a:avLst/>
          </a:prstGeom>
          <a:solidFill>
            <a:srgbClr val="0277BD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182880" y="2048256"/>
            <a:ext cx="87782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19456" y="206654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 &amp; SRS Documentation</a:t>
            </a:r>
            <a:endParaRPr lang="en-US" sz="780" dirty="0"/>
          </a:p>
        </p:txBody>
      </p:sp>
      <p:sp>
        <p:nvSpPr>
          <p:cNvPr id="48" name="Shape 46"/>
          <p:cNvSpPr/>
          <p:nvPr/>
        </p:nvSpPr>
        <p:spPr>
          <a:xfrm>
            <a:off x="3376246" y="2093976"/>
            <a:ext cx="1248508" cy="201168"/>
          </a:xfrm>
          <a:prstGeom prst="rect">
            <a:avLst/>
          </a:prstGeom>
          <a:solidFill>
            <a:srgbClr val="00838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182880" y="2395728"/>
            <a:ext cx="8778240" cy="320040"/>
          </a:xfrm>
          <a:prstGeom prst="rect">
            <a:avLst/>
          </a:prstGeom>
          <a:solidFill>
            <a:srgbClr val="F0F7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19456" y="241401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(ER, DFD, Architecture)</a:t>
            </a:r>
            <a:endParaRPr lang="en-US" sz="780" dirty="0"/>
          </a:p>
        </p:txBody>
      </p:sp>
      <p:sp>
        <p:nvSpPr>
          <p:cNvPr id="51" name="Shape 49"/>
          <p:cNvSpPr/>
          <p:nvPr/>
        </p:nvSpPr>
        <p:spPr>
          <a:xfrm>
            <a:off x="4125351" y="2441448"/>
            <a:ext cx="1248508" cy="201168"/>
          </a:xfrm>
          <a:prstGeom prst="rect">
            <a:avLst/>
          </a:prstGeom>
          <a:solidFill>
            <a:srgbClr val="00897B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182880" y="2743200"/>
            <a:ext cx="87782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19456" y="276148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Setup &amp; Django Project Initialization</a:t>
            </a:r>
            <a:endParaRPr lang="en-US" sz="780" dirty="0"/>
          </a:p>
        </p:txBody>
      </p:sp>
      <p:sp>
        <p:nvSpPr>
          <p:cNvPr id="54" name="Shape 52"/>
          <p:cNvSpPr/>
          <p:nvPr/>
        </p:nvSpPr>
        <p:spPr>
          <a:xfrm>
            <a:off x="4874455" y="2788920"/>
            <a:ext cx="998806" cy="201168"/>
          </a:xfrm>
          <a:prstGeom prst="rect">
            <a:avLst/>
          </a:prstGeom>
          <a:solidFill>
            <a:srgbClr val="2E7D32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182880" y="3090672"/>
            <a:ext cx="8778240" cy="320040"/>
          </a:xfrm>
          <a:prstGeom prst="rect">
            <a:avLst/>
          </a:prstGeom>
          <a:solidFill>
            <a:srgbClr val="F0F7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19456" y="31089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Development (Models, Views, URLs)</a:t>
            </a:r>
            <a:endParaRPr lang="en-US" sz="780" dirty="0"/>
          </a:p>
        </p:txBody>
      </p:sp>
      <p:sp>
        <p:nvSpPr>
          <p:cNvPr id="57" name="Shape 55"/>
          <p:cNvSpPr/>
          <p:nvPr/>
        </p:nvSpPr>
        <p:spPr>
          <a:xfrm>
            <a:off x="5373858" y="3136392"/>
            <a:ext cx="1747911" cy="201168"/>
          </a:xfrm>
          <a:prstGeom prst="rect">
            <a:avLst/>
          </a:prstGeom>
          <a:solidFill>
            <a:srgbClr val="558B2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182880" y="3438144"/>
            <a:ext cx="87782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19456" y="345643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Development (Templates, Bootstrap)</a:t>
            </a:r>
            <a:endParaRPr lang="en-US" sz="780" dirty="0"/>
          </a:p>
        </p:txBody>
      </p:sp>
      <p:sp>
        <p:nvSpPr>
          <p:cNvPr id="60" name="Shape 58"/>
          <p:cNvSpPr/>
          <p:nvPr/>
        </p:nvSpPr>
        <p:spPr>
          <a:xfrm>
            <a:off x="6122963" y="3483864"/>
            <a:ext cx="1498209" cy="201168"/>
          </a:xfrm>
          <a:prstGeom prst="rect">
            <a:avLst/>
          </a:prstGeom>
          <a:solidFill>
            <a:srgbClr val="F57F17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182880" y="3785616"/>
            <a:ext cx="8778240" cy="320040"/>
          </a:xfrm>
          <a:prstGeom prst="rect">
            <a:avLst/>
          </a:prstGeom>
          <a:solidFill>
            <a:srgbClr val="F0F7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19456" y="380390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Encryption Integration &amp; Testing</a:t>
            </a:r>
            <a:endParaRPr lang="en-US" sz="780" dirty="0"/>
          </a:p>
        </p:txBody>
      </p:sp>
      <p:sp>
        <p:nvSpPr>
          <p:cNvPr id="63" name="Shape 61"/>
          <p:cNvSpPr/>
          <p:nvPr/>
        </p:nvSpPr>
        <p:spPr>
          <a:xfrm>
            <a:off x="6872068" y="3831336"/>
            <a:ext cx="998806" cy="201168"/>
          </a:xfrm>
          <a:prstGeom prst="rect">
            <a:avLst/>
          </a:prstGeom>
          <a:solidFill>
            <a:srgbClr val="E6510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182880" y="4133088"/>
            <a:ext cx="87782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19456" y="415137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Integration &amp; Unit Testing</a:t>
            </a:r>
            <a:endParaRPr lang="en-US" sz="780" dirty="0"/>
          </a:p>
        </p:txBody>
      </p:sp>
      <p:sp>
        <p:nvSpPr>
          <p:cNvPr id="66" name="Shape 64"/>
          <p:cNvSpPr/>
          <p:nvPr/>
        </p:nvSpPr>
        <p:spPr>
          <a:xfrm>
            <a:off x="7621172" y="4178808"/>
            <a:ext cx="749105" cy="201168"/>
          </a:xfrm>
          <a:prstGeom prst="rect">
            <a:avLst/>
          </a:prstGeom>
          <a:solidFill>
            <a:srgbClr val="BF360C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182880" y="4480560"/>
            <a:ext cx="8778240" cy="320040"/>
          </a:xfrm>
          <a:prstGeom prst="rect">
            <a:avLst/>
          </a:prstGeom>
          <a:solidFill>
            <a:srgbClr val="F0F7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19456" y="449884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Documentation, PPT &amp; Final Review</a:t>
            </a:r>
            <a:endParaRPr lang="en-US" sz="780" dirty="0"/>
          </a:p>
        </p:txBody>
      </p:sp>
      <p:sp>
        <p:nvSpPr>
          <p:cNvPr id="69" name="Shape 67"/>
          <p:cNvSpPr/>
          <p:nvPr/>
        </p:nvSpPr>
        <p:spPr>
          <a:xfrm>
            <a:off x="8120575" y="4526280"/>
            <a:ext cx="749105" cy="201168"/>
          </a:xfrm>
          <a:prstGeom prst="rect">
            <a:avLst/>
          </a:prstGeom>
          <a:solidFill>
            <a:srgbClr val="880E4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8619978" y="969264"/>
            <a:ext cx="0" cy="3858768"/>
          </a:xfrm>
          <a:prstGeom prst="line">
            <a:avLst/>
          </a:prstGeom>
          <a:noFill/>
          <a:ln w="19050">
            <a:solidFill>
              <a:srgbClr val="E53935"/>
            </a:solidFill>
            <a:prstDash val="sysDash"/>
          </a:ln>
        </p:spPr>
      </p:sp>
      <p:sp>
        <p:nvSpPr>
          <p:cNvPr id="71" name="Text 69"/>
          <p:cNvSpPr/>
          <p:nvPr/>
        </p:nvSpPr>
        <p:spPr>
          <a:xfrm>
            <a:off x="8345658" y="9875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650" dirty="0"/>
          </a:p>
          <a:p>
            <a:pPr marL="0" indent="0" algn="ctr">
              <a:buNone/>
            </a:pPr>
            <a:r>
              <a:rPr lang="en-US" sz="6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(Apr 2026)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256032" y="4681728"/>
            <a:ext cx="8631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Task Duration    — Timeline: Jan 15 – Apr 15, 2026  (13 Weeks)    | Dashed line: Current date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— Authentication &amp; File Operations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4864608"/>
            <a:ext cx="91440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ZKVault · MCA Final Year · BBD University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01168" y="822960"/>
            <a:ext cx="8741664" cy="31089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201168" y="822960"/>
            <a:ext cx="56692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ID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" y="822960"/>
            <a:ext cx="987552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755648" y="822960"/>
            <a:ext cx="65836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414016" y="822960"/>
            <a:ext cx="193852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Input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352544" y="822960"/>
            <a:ext cx="228600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638544" y="822960"/>
            <a:ext cx="54864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01168" y="1152144"/>
            <a:ext cx="8741664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1170432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TC-01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795528" y="1170432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1783080" y="1170432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2441448" y="1170432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email, strong password (8+ chars, uppercase, digit)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4379976" y="1170432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created. Redirect to login page. UserProfile auto-created.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6665976" y="1170432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201168" y="1572768"/>
            <a:ext cx="8741664" cy="411480"/>
          </a:xfrm>
          <a:prstGeom prst="rect">
            <a:avLst/>
          </a:prstGeom>
          <a:solidFill>
            <a:srgbClr val="F0F7FF"/>
          </a:solidFill>
          <a:ln w="6350">
            <a:solidFill>
              <a:srgbClr val="D0E8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1591056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TC-02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795528" y="1591056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1783080" y="1591056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2441448" y="1591056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registered email address submitted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4379976" y="1591056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Error: 'Email already exists.' Form re-displayed with message.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6665976" y="1591056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201168" y="1993392"/>
            <a:ext cx="8741664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" y="2011680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TC-03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795528" y="201168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Login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1783080" y="2011680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2441448" y="2011680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credentials (email + password)</a:t>
            </a: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4379976" y="2011680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created. Redirect to /dashboard/. Activity log updated.</a:t>
            </a:r>
            <a:endParaRPr lang="en-US" sz="780" dirty="0"/>
          </a:p>
        </p:txBody>
      </p:sp>
      <p:sp>
        <p:nvSpPr>
          <p:cNvPr id="33" name="Text 31"/>
          <p:cNvSpPr/>
          <p:nvPr/>
        </p:nvSpPr>
        <p:spPr>
          <a:xfrm>
            <a:off x="6665976" y="201168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201168" y="2414016"/>
            <a:ext cx="8741664" cy="411480"/>
          </a:xfrm>
          <a:prstGeom prst="rect">
            <a:avLst/>
          </a:prstGeom>
          <a:solidFill>
            <a:srgbClr val="F0F7FF"/>
          </a:solidFill>
          <a:ln w="6350">
            <a:solidFill>
              <a:srgbClr val="D0E8F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8600" y="2432304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TC-04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795528" y="2432304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Login</a:t>
            </a:r>
            <a:endParaRPr lang="en-US" sz="780" dirty="0"/>
          </a:p>
        </p:txBody>
      </p:sp>
      <p:sp>
        <p:nvSpPr>
          <p:cNvPr id="37" name="Text 35"/>
          <p:cNvSpPr/>
          <p:nvPr/>
        </p:nvSpPr>
        <p:spPr>
          <a:xfrm>
            <a:off x="1783080" y="2432304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780" dirty="0"/>
          </a:p>
        </p:txBody>
      </p:sp>
      <p:sp>
        <p:nvSpPr>
          <p:cNvPr id="38" name="Text 36"/>
          <p:cNvSpPr/>
          <p:nvPr/>
        </p:nvSpPr>
        <p:spPr>
          <a:xfrm>
            <a:off x="2441448" y="2432304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password (5 consecutive attempts)</a:t>
            </a:r>
            <a:endParaRPr lang="en-US" sz="780" dirty="0"/>
          </a:p>
        </p:txBody>
      </p:sp>
      <p:sp>
        <p:nvSpPr>
          <p:cNvPr id="39" name="Text 37"/>
          <p:cNvSpPr/>
          <p:nvPr/>
        </p:nvSpPr>
        <p:spPr>
          <a:xfrm>
            <a:off x="4379976" y="2432304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temporarily locked. Error message displayed.</a:t>
            </a:r>
            <a:endParaRPr lang="en-US" sz="780" dirty="0"/>
          </a:p>
        </p:txBody>
      </p:sp>
      <p:sp>
        <p:nvSpPr>
          <p:cNvPr id="40" name="Text 38"/>
          <p:cNvSpPr/>
          <p:nvPr/>
        </p:nvSpPr>
        <p:spPr>
          <a:xfrm>
            <a:off x="6665976" y="2432304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780" dirty="0"/>
          </a:p>
        </p:txBody>
      </p:sp>
      <p:sp>
        <p:nvSpPr>
          <p:cNvPr id="41" name="Shape 39"/>
          <p:cNvSpPr/>
          <p:nvPr/>
        </p:nvSpPr>
        <p:spPr>
          <a:xfrm>
            <a:off x="201168" y="2834640"/>
            <a:ext cx="8741664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28600" y="2852928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TC-05</a:t>
            </a:r>
            <a:endParaRPr lang="en-US" sz="780" dirty="0"/>
          </a:p>
        </p:txBody>
      </p:sp>
      <p:sp>
        <p:nvSpPr>
          <p:cNvPr id="43" name="Text 41"/>
          <p:cNvSpPr/>
          <p:nvPr/>
        </p:nvSpPr>
        <p:spPr>
          <a:xfrm>
            <a:off x="795528" y="2852928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</a:t>
            </a:r>
            <a:endParaRPr lang="en-US" sz="780" dirty="0"/>
          </a:p>
        </p:txBody>
      </p:sp>
      <p:sp>
        <p:nvSpPr>
          <p:cNvPr id="44" name="Text 42"/>
          <p:cNvSpPr/>
          <p:nvPr/>
        </p:nvSpPr>
        <p:spPr>
          <a:xfrm>
            <a:off x="1783080" y="2852928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780" dirty="0"/>
          </a:p>
        </p:txBody>
      </p:sp>
      <p:sp>
        <p:nvSpPr>
          <p:cNvPr id="45" name="Text 43"/>
          <p:cNvSpPr/>
          <p:nvPr/>
        </p:nvSpPr>
        <p:spPr>
          <a:xfrm>
            <a:off x="2441448" y="2852928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5 MB PDF file while logged in</a:t>
            </a:r>
            <a:endParaRPr lang="en-US" sz="780" dirty="0"/>
          </a:p>
        </p:txBody>
      </p:sp>
      <p:sp>
        <p:nvSpPr>
          <p:cNvPr id="46" name="Text 44"/>
          <p:cNvSpPr/>
          <p:nvPr/>
        </p:nvSpPr>
        <p:spPr>
          <a:xfrm>
            <a:off x="4379976" y="2852928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encrypted AES-256 client-side. Stored in media/vault/. ActivityLog 'upload' created.</a:t>
            </a:r>
            <a:endParaRPr lang="en-US" sz="780" dirty="0"/>
          </a:p>
        </p:txBody>
      </p:sp>
      <p:sp>
        <p:nvSpPr>
          <p:cNvPr id="47" name="Text 45"/>
          <p:cNvSpPr/>
          <p:nvPr/>
        </p:nvSpPr>
        <p:spPr>
          <a:xfrm>
            <a:off x="6665976" y="2852928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780" dirty="0"/>
          </a:p>
        </p:txBody>
      </p:sp>
      <p:sp>
        <p:nvSpPr>
          <p:cNvPr id="48" name="Shape 46"/>
          <p:cNvSpPr/>
          <p:nvPr/>
        </p:nvSpPr>
        <p:spPr>
          <a:xfrm>
            <a:off x="201168" y="3255264"/>
            <a:ext cx="8741664" cy="411480"/>
          </a:xfrm>
          <a:prstGeom prst="rect">
            <a:avLst/>
          </a:prstGeom>
          <a:solidFill>
            <a:srgbClr val="F0F7FF"/>
          </a:solidFill>
          <a:ln w="6350">
            <a:solidFill>
              <a:srgbClr val="D0E8F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28600" y="3273552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TC-06</a:t>
            </a:r>
            <a:endParaRPr lang="en-US" sz="780" dirty="0"/>
          </a:p>
        </p:txBody>
      </p:sp>
      <p:sp>
        <p:nvSpPr>
          <p:cNvPr id="50" name="Text 48"/>
          <p:cNvSpPr/>
          <p:nvPr/>
        </p:nvSpPr>
        <p:spPr>
          <a:xfrm>
            <a:off x="795528" y="3273552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</a:t>
            </a:r>
            <a:endParaRPr lang="en-US" sz="780" dirty="0"/>
          </a:p>
        </p:txBody>
      </p:sp>
      <p:sp>
        <p:nvSpPr>
          <p:cNvPr id="51" name="Text 49"/>
          <p:cNvSpPr/>
          <p:nvPr/>
        </p:nvSpPr>
        <p:spPr>
          <a:xfrm>
            <a:off x="1783080" y="3273552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780" dirty="0"/>
          </a:p>
        </p:txBody>
      </p:sp>
      <p:sp>
        <p:nvSpPr>
          <p:cNvPr id="52" name="Text 50"/>
          <p:cNvSpPr/>
          <p:nvPr/>
        </p:nvSpPr>
        <p:spPr>
          <a:xfrm>
            <a:off x="2441448" y="3273552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when storage quota (10 GB) is exceeded</a:t>
            </a:r>
            <a:endParaRPr lang="en-US" sz="780" dirty="0"/>
          </a:p>
        </p:txBody>
      </p:sp>
      <p:sp>
        <p:nvSpPr>
          <p:cNvPr id="53" name="Text 51"/>
          <p:cNvSpPr/>
          <p:nvPr/>
        </p:nvSpPr>
        <p:spPr>
          <a:xfrm>
            <a:off x="4379976" y="3273552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rejected. Error: 'Storage quota exceeded.' File not saved.</a:t>
            </a:r>
            <a:endParaRPr lang="en-US" sz="780" dirty="0"/>
          </a:p>
        </p:txBody>
      </p:sp>
      <p:sp>
        <p:nvSpPr>
          <p:cNvPr id="54" name="Text 52"/>
          <p:cNvSpPr/>
          <p:nvPr/>
        </p:nvSpPr>
        <p:spPr>
          <a:xfrm>
            <a:off x="6665976" y="3273552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780" dirty="0"/>
          </a:p>
        </p:txBody>
      </p:sp>
      <p:sp>
        <p:nvSpPr>
          <p:cNvPr id="55" name="Shape 53"/>
          <p:cNvSpPr/>
          <p:nvPr/>
        </p:nvSpPr>
        <p:spPr>
          <a:xfrm>
            <a:off x="201168" y="3675888"/>
            <a:ext cx="8741664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28600" y="3694176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TC-07</a:t>
            </a:r>
            <a:endParaRPr lang="en-US" sz="780" dirty="0"/>
          </a:p>
        </p:txBody>
      </p:sp>
      <p:sp>
        <p:nvSpPr>
          <p:cNvPr id="57" name="Text 55"/>
          <p:cNvSpPr/>
          <p:nvPr/>
        </p:nvSpPr>
        <p:spPr>
          <a:xfrm>
            <a:off x="795528" y="3694176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Download</a:t>
            </a:r>
            <a:endParaRPr lang="en-US" sz="780" dirty="0"/>
          </a:p>
        </p:txBody>
      </p:sp>
      <p:sp>
        <p:nvSpPr>
          <p:cNvPr id="58" name="Text 56"/>
          <p:cNvSpPr/>
          <p:nvPr/>
        </p:nvSpPr>
        <p:spPr>
          <a:xfrm>
            <a:off x="1783080" y="3694176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780" dirty="0"/>
          </a:p>
        </p:txBody>
      </p:sp>
      <p:sp>
        <p:nvSpPr>
          <p:cNvPr id="59" name="Text 57"/>
          <p:cNvSpPr/>
          <p:nvPr/>
        </p:nvSpPr>
        <p:spPr>
          <a:xfrm>
            <a:off x="2441448" y="3694176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clicks Download on own file</a:t>
            </a:r>
            <a:endParaRPr lang="en-US" sz="780" dirty="0"/>
          </a:p>
        </p:txBody>
      </p:sp>
      <p:sp>
        <p:nvSpPr>
          <p:cNvPr id="60" name="Text 58"/>
          <p:cNvSpPr/>
          <p:nvPr/>
        </p:nvSpPr>
        <p:spPr>
          <a:xfrm>
            <a:off x="4379976" y="3694176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file served. Client decrypts locally. ActivityLog 'download' created.</a:t>
            </a:r>
            <a:endParaRPr lang="en-US" sz="780" dirty="0"/>
          </a:p>
        </p:txBody>
      </p:sp>
      <p:sp>
        <p:nvSpPr>
          <p:cNvPr id="61" name="Text 59"/>
          <p:cNvSpPr/>
          <p:nvPr/>
        </p:nvSpPr>
        <p:spPr>
          <a:xfrm>
            <a:off x="6665976" y="3694176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780" dirty="0"/>
          </a:p>
        </p:txBody>
      </p:sp>
      <p:sp>
        <p:nvSpPr>
          <p:cNvPr id="62" name="Shape 60"/>
          <p:cNvSpPr/>
          <p:nvPr/>
        </p:nvSpPr>
        <p:spPr>
          <a:xfrm>
            <a:off x="201168" y="4096512"/>
            <a:ext cx="8741664" cy="411480"/>
          </a:xfrm>
          <a:prstGeom prst="rect">
            <a:avLst/>
          </a:prstGeom>
          <a:solidFill>
            <a:srgbClr val="F0F7FF"/>
          </a:solidFill>
          <a:ln w="6350">
            <a:solidFill>
              <a:srgbClr val="D0E8F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28600" y="4114800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TC-08</a:t>
            </a:r>
            <a:endParaRPr lang="en-US" sz="780" dirty="0"/>
          </a:p>
        </p:txBody>
      </p:sp>
      <p:sp>
        <p:nvSpPr>
          <p:cNvPr id="64" name="Text 62"/>
          <p:cNvSpPr/>
          <p:nvPr/>
        </p:nvSpPr>
        <p:spPr>
          <a:xfrm>
            <a:off x="795528" y="411480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Rename</a:t>
            </a:r>
            <a:endParaRPr lang="en-US" sz="780" dirty="0"/>
          </a:p>
        </p:txBody>
      </p:sp>
      <p:sp>
        <p:nvSpPr>
          <p:cNvPr id="65" name="Text 63"/>
          <p:cNvSpPr/>
          <p:nvPr/>
        </p:nvSpPr>
        <p:spPr>
          <a:xfrm>
            <a:off x="1783080" y="4114800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780" dirty="0"/>
          </a:p>
        </p:txBody>
      </p:sp>
      <p:sp>
        <p:nvSpPr>
          <p:cNvPr id="66" name="Text 64"/>
          <p:cNvSpPr/>
          <p:nvPr/>
        </p:nvSpPr>
        <p:spPr>
          <a:xfrm>
            <a:off x="2441448" y="4114800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file to 'SecureReport_2026.pdf'</a:t>
            </a:r>
            <a:endParaRPr lang="en-US" sz="780" dirty="0"/>
          </a:p>
        </p:txBody>
      </p:sp>
      <p:sp>
        <p:nvSpPr>
          <p:cNvPr id="67" name="Text 65"/>
          <p:cNvSpPr/>
          <p:nvPr/>
        </p:nvSpPr>
        <p:spPr>
          <a:xfrm>
            <a:off x="4379976" y="4114800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field updated in DB. File list reflects new name instantly.</a:t>
            </a:r>
            <a:endParaRPr lang="en-US" sz="780" dirty="0"/>
          </a:p>
        </p:txBody>
      </p:sp>
      <p:sp>
        <p:nvSpPr>
          <p:cNvPr id="68" name="Text 66"/>
          <p:cNvSpPr/>
          <p:nvPr/>
        </p:nvSpPr>
        <p:spPr>
          <a:xfrm>
            <a:off x="6665976" y="411480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780" dirty="0"/>
          </a:p>
        </p:txBody>
      </p:sp>
      <p:sp>
        <p:nvSpPr>
          <p:cNvPr id="69" name="Shape 67"/>
          <p:cNvSpPr/>
          <p:nvPr/>
        </p:nvSpPr>
        <p:spPr>
          <a:xfrm>
            <a:off x="201168" y="4517136"/>
            <a:ext cx="8741664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28600" y="4535424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TC-09</a:t>
            </a:r>
            <a:endParaRPr lang="en-US" sz="780" dirty="0"/>
          </a:p>
        </p:txBody>
      </p:sp>
      <p:sp>
        <p:nvSpPr>
          <p:cNvPr id="71" name="Text 69"/>
          <p:cNvSpPr/>
          <p:nvPr/>
        </p:nvSpPr>
        <p:spPr>
          <a:xfrm>
            <a:off x="795528" y="4535424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Delete</a:t>
            </a:r>
            <a:endParaRPr lang="en-US" sz="780" dirty="0"/>
          </a:p>
        </p:txBody>
      </p:sp>
      <p:sp>
        <p:nvSpPr>
          <p:cNvPr id="72" name="Text 70"/>
          <p:cNvSpPr/>
          <p:nvPr/>
        </p:nvSpPr>
        <p:spPr>
          <a:xfrm>
            <a:off x="1783080" y="4535424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780" dirty="0"/>
          </a:p>
        </p:txBody>
      </p:sp>
      <p:sp>
        <p:nvSpPr>
          <p:cNvPr id="73" name="Text 71"/>
          <p:cNvSpPr/>
          <p:nvPr/>
        </p:nvSpPr>
        <p:spPr>
          <a:xfrm>
            <a:off x="2441448" y="4535424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deletes file from My Files</a:t>
            </a:r>
            <a:endParaRPr lang="en-US" sz="780" dirty="0"/>
          </a:p>
        </p:txBody>
      </p:sp>
      <p:sp>
        <p:nvSpPr>
          <p:cNvPr id="74" name="Text 72"/>
          <p:cNvSpPr/>
          <p:nvPr/>
        </p:nvSpPr>
        <p:spPr>
          <a:xfrm>
            <a:off x="4379976" y="4535424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is_deleted=True. Storage quota decremented. File hidden from UI.</a:t>
            </a:r>
            <a:endParaRPr lang="en-US" sz="780" dirty="0"/>
          </a:p>
        </p:txBody>
      </p:sp>
      <p:sp>
        <p:nvSpPr>
          <p:cNvPr id="75" name="Text 73"/>
          <p:cNvSpPr/>
          <p:nvPr/>
        </p:nvSpPr>
        <p:spPr>
          <a:xfrm>
            <a:off x="6665976" y="4535424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7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CA5546-B2FE-AFB8-AF24-E8BF1547F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5"/>
            <a:ext cx="4572000" cy="25704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828C49C-8B7F-8055-8F01-655C78B0E9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1" y="1255"/>
            <a:ext cx="4572000" cy="257049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91B53AC-36FC-1071-7218-501CE64E58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8317" y="2571750"/>
            <a:ext cx="4640317" cy="257049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F068F8C-79D4-4B1A-80C5-D4FAB4FDB1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1" y="2573006"/>
            <a:ext cx="4572000" cy="2569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0618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Shape 1"/>
          <p:cNvSpPr/>
          <p:nvPr/>
        </p:nvSpPr>
        <p:spPr>
          <a:xfrm>
            <a:off x="8942832" y="0"/>
            <a:ext cx="201168" cy="514350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0" y="777240"/>
            <a:ext cx="4572000" cy="4572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6" name="Shape 4"/>
          <p:cNvSpPr/>
          <p:nvPr/>
        </p:nvSpPr>
        <p:spPr>
          <a:xfrm>
            <a:off x="347472" y="969264"/>
            <a:ext cx="8449056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D0E8FA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969264"/>
            <a:ext cx="73152" cy="640080"/>
          </a:xfrm>
          <a:prstGeom prst="rect">
            <a:avLst/>
          </a:prstGeom>
          <a:solidFill>
            <a:srgbClr val="00897B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133856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77824" y="102412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ZKVault successfully implements the Zero Knowledge Security Model — the server stores only ciphertext and can never decrypt user files.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7472" y="1682496"/>
            <a:ext cx="8449056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D0E8FA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7472" y="1682496"/>
            <a:ext cx="73152" cy="640080"/>
          </a:xfrm>
          <a:prstGeom prst="rect">
            <a:avLst/>
          </a:prstGeom>
          <a:solidFill>
            <a:srgbClr val="00897B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1847088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77824" y="1737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client-side encryption (Web Crypto API) ensures complete confidentiality, protecting users from data breaches and insider threats.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47472" y="2395728"/>
            <a:ext cx="8449056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D0E8FA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47472" y="2395728"/>
            <a:ext cx="73152" cy="640080"/>
          </a:xfrm>
          <a:prstGeom prst="rect">
            <a:avLst/>
          </a:prstGeom>
          <a:solidFill>
            <a:srgbClr val="00897B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2560320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77824" y="245059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share link management (expiry, password, download limits) gives users full control over how and who accesses their shared files.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347472" y="3108960"/>
            <a:ext cx="8449056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D0E8FA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347472" y="3108960"/>
            <a:ext cx="73152" cy="640080"/>
          </a:xfrm>
          <a:prstGeom prst="rect">
            <a:avLst/>
          </a:prstGeom>
          <a:solidFill>
            <a:srgbClr val="00897B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" y="3273552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77824" y="3163824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activity logging provides full accountability and audit trails for all system actions across users and administrators.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347472" y="3822192"/>
            <a:ext cx="8449056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D0E8FA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347472" y="3822192"/>
            <a:ext cx="73152" cy="640080"/>
          </a:xfrm>
          <a:prstGeom prst="rect">
            <a:avLst/>
          </a:prstGeom>
          <a:solidFill>
            <a:srgbClr val="00897B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" y="3986784"/>
            <a:ext cx="310896" cy="31089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77824" y="3877056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18 test cases passed successfully. The system is fully functional, secure, and ready for deployment on production infrastructure.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274320" y="480974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BBD University | MCA Final Year Project 2026 | Prajjwal Dixit &amp; Uday Raj Rastogi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071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463040"/>
            <a:ext cx="9144000" cy="54864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657600"/>
            <a:ext cx="9144000" cy="54864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3712464"/>
            <a:ext cx="9144000" cy="1426464"/>
          </a:xfrm>
          <a:prstGeom prst="rect">
            <a:avLst/>
          </a:prstGeom>
          <a:solidFill>
            <a:srgbClr val="07102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7432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1664208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1371600" y="263347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welcome your questions and feedback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200400" y="3145536"/>
            <a:ext cx="2743200" cy="36576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38221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Prajjwal Dixit  &amp;  Uday Raj Rastogi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40782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 Final Year  |  BBD University, Lucknow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433425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Mrs. Devika Singh  &amp;  Mr. Nilesh Khare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2115</Words>
  <Application>Microsoft Office PowerPoint</Application>
  <PresentationFormat>On-screen Show (16:9)</PresentationFormat>
  <Paragraphs>366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 Knowledge File Sharing Vault</dc:title>
  <dc:subject>PptxGenJS Presentation</dc:subject>
  <dc:creator>Prajjwal Dixit &amp; Uday Raj Rastogi</dc:creator>
  <cp:lastModifiedBy>dell</cp:lastModifiedBy>
  <cp:revision>3</cp:revision>
  <dcterms:created xsi:type="dcterms:W3CDTF">2026-04-23T18:35:11Z</dcterms:created>
  <dcterms:modified xsi:type="dcterms:W3CDTF">2026-04-24T07:41:58Z</dcterms:modified>
</cp:coreProperties>
</file>